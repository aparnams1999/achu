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7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874A73-54D8-4696-86DE-8DB0DA995E8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233863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275099" y="991261"/>
            <a:ext cx="4316022" cy="18373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6000" b="1">
                <a:solidFill>
                  <a:srgbClr val="FFFFFF"/>
                </a:solidFill>
              </a:defRPr>
            </a:pPr>
            <a:r>
              <a:rPr lang="en-US" sz="31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Food Waste Management in Hotels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C3921CD-DDE5-4B57-8FDF-B37ADE4ED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18414" y="3985"/>
            <a:ext cx="7310715" cy="6858000"/>
            <a:chOff x="1318434" y="36937"/>
            <a:chExt cx="9747620" cy="6858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4CBEDF6-7B5F-471F-AF99-301A237481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D43DB10-4F84-47C2-8170-CB9EED8667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F35C7A0-1526-4D97-BCD8-91B3576E3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009574A-38B7-43A8-A925-1FB54C6B1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A3AAA50-DE22-4E5D-9064-A37786C590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1620456" y="2979336"/>
            <a:ext cx="6557942" cy="2430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2200">
                <a:solidFill>
                  <a:srgbClr val="64B4DC"/>
                </a:solidFill>
              </a:defRPr>
            </a:pPr>
            <a:r>
              <a:rPr lang="en-US" sz="1700" dirty="0">
                <a:solidFill>
                  <a:schemeClr val="tx2"/>
                </a:solidFill>
              </a:rPr>
              <a:t>Reducing Waste, Controlling Costs &amp; Building a Sustainable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Presented by</a:t>
            </a:r>
            <a:br>
              <a:rPr lang="en-US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Archana M S | Joel Abraham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  <a:p>
            <a:pPr algn="ctr">
              <a:spcAft>
                <a:spcPts val="600"/>
              </a:spcAft>
              <a:defRPr sz="1600">
                <a:solidFill>
                  <a:srgbClr val="64B4DC"/>
                </a:solidFill>
              </a:defRPr>
            </a:pPr>
            <a:r>
              <a:rPr lang="en-US" dirty="0"/>
              <a:t>Food Production Intern | Grand Hyatt Kochi </a:t>
            </a:r>
            <a:r>
              <a:rPr lang="en-US" dirty="0" err="1"/>
              <a:t>Bolgatty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Why Food Waste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96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is one of the biggest operational challenges in the hospitality industry.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Luxury hotels prepare food in large quantities to maintain guest satisfaction, but inaccurate forecasting, overproduction and inefficient handling result in unnecessary waste.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800" b="1" dirty="0"/>
              <a:t>Impact of Food Waste: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Hotel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Food cost percentage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Environmental sustainability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Resource utilization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Brand reputation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2</a:t>
            </a:r>
          </a:p>
        </p:txBody>
      </p:sp>
      <p:pic>
        <p:nvPicPr>
          <p:cNvPr id="6" name="Picture 5" descr="Grand Hyatt Kochi Bolgatty – Cuisine - Currylines - Caroline's">
            <a:extLst>
              <a:ext uri="{FF2B5EF4-FFF2-40B4-BE49-F238E27FC236}">
                <a16:creationId xmlns:a16="http://schemas.microsoft.com/office/drawing/2014/main" id="{DEB71519-1BC6-8D85-9E39-89667139A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440" y="3264054"/>
            <a:ext cx="4397730" cy="24737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Where Food Waste Occurs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4000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dirty="0">
                <a:solidFill>
                  <a:schemeClr val="tx2">
                    <a:lumMod val="75000"/>
                  </a:schemeClr>
                </a:solidFill>
              </a:rPr>
              <a:t>Receiving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9" y="1417320"/>
            <a:ext cx="442152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Damaged or poor-quality deliveries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ordering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Short shelf-life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6735" y="1005840"/>
            <a:ext cx="115262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2010" y="1417320"/>
            <a:ext cx="404883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temperature control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Expired inventory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stock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56416"/>
            <a:ext cx="16912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72069"/>
            <a:ext cx="3592782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Excessive trimming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knife skills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portioning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460" y="3167986"/>
            <a:ext cx="110267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3583" y="3672069"/>
            <a:ext cx="436828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Buffet leftovers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Plate waste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Overproduction during peak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Root Causes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Inaccurate demand forecasting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Overstocking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Large buffet displays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 recipes not followed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inventory management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Lack of staff awareness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communication between departments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4</a:t>
            </a:r>
          </a:p>
        </p:txBody>
      </p:sp>
      <p:pic>
        <p:nvPicPr>
          <p:cNvPr id="8" name="Picture 7" descr="The Global Crisis of Food Waste: Causes, Consequences, and Solutions - The  Happy Turtle Straw">
            <a:extLst>
              <a:ext uri="{FF2B5EF4-FFF2-40B4-BE49-F238E27FC236}">
                <a16:creationId xmlns:a16="http://schemas.microsoft.com/office/drawing/2014/main" id="{A7D643E7-D823-CDF8-A659-12AC9F40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44" y="1362662"/>
            <a:ext cx="3392824" cy="2467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Cost Impact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590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Hidden Costs Include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Raw material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</a:t>
            </a:r>
            <a:r>
              <a:rPr sz="2200" dirty="0" err="1">
                <a:solidFill>
                  <a:srgbClr val="333333"/>
                </a:solidFill>
              </a:rPr>
              <a:t>Labour</a:t>
            </a:r>
            <a:r>
              <a:rPr sz="2200" dirty="0">
                <a:solidFill>
                  <a:srgbClr val="333333"/>
                </a:solidFill>
              </a:rPr>
              <a:t> in preparation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&amp; water consumption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disposal expenses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operating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084706"/>
            <a:ext cx="813816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Key Insight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Even a small reduction in waste can significantly improve food cost control and overall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5</a:t>
            </a:r>
          </a:p>
        </p:txBody>
      </p:sp>
      <p:pic>
        <p:nvPicPr>
          <p:cNvPr id="6" name="Picture 5" descr="Hospitality Food Waste: Challenges &amp; Solutions | Shapiro">
            <a:extLst>
              <a:ext uri="{FF2B5EF4-FFF2-40B4-BE49-F238E27FC236}">
                <a16:creationId xmlns:a16="http://schemas.microsoft.com/office/drawing/2014/main" id="{4BE15905-942D-587E-DC69-36110D76E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677" y="1324456"/>
            <a:ext cx="3865945" cy="29085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Food Waste &amp;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Higher Waste Leads To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Increased production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menu pricing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profit margins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074" y="3413375"/>
            <a:ext cx="8231916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Solution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Reducing waste helps hotels maintain competitive pricing while protecting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Waste Reduction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Accurate demand forecasting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FIFO (First In, First Out) inventory management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Standardized recipes and procedures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Portion control measures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Proper storage practices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Daily waste monitoring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training and awareness programs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Sustainable Kitchen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Modern hotel kitchens focus on maximizing resource utilization: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Creative use of vegetable trimmings for stocks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Repurposing surplus ingredients where food safety permits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Composting organic waste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Recycling packaging materials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Donation of safe surplus food through approved channels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Sustainable Kitchen Practices: Reducing Waste and Energy Consumption |  Cosmo Appliances">
            <a:extLst>
              <a:ext uri="{FF2B5EF4-FFF2-40B4-BE49-F238E27FC236}">
                <a16:creationId xmlns:a16="http://schemas.microsoft.com/office/drawing/2014/main" id="{4FDEAFB2-D811-F387-2936-54AAD39CD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88" y="3993840"/>
            <a:ext cx="2951550" cy="2361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Hyatt Sustainability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375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Hyatt integrates sustainability into daily operations through responsible resource management: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Monitoring food waste through kitchen audits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Responsible sourcing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and water conservation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segregation and recycling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engagement in sustainability programs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These initiatives support Hyatt's commitment to responsible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Role of Every Hotel Employee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65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management is a shared responsibility.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Every team member contributes by: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Following Standard Operating Procedures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Maintaining portion consistency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Reporting avoidable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Practicing careful handling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Supporting sustainable operations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Small daily actions create a significant long-term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Benefits of Reducing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255903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Business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food cost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Better inventory control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Improved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2244326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Environmental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landfill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carbon emissions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Conservation of water &amp; energy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Sustainable hospitality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AE7943-9D10-6A48-A060-E2F89CD16957}"/>
              </a:ext>
            </a:extLst>
          </p:cNvPr>
          <p:cNvSpPr/>
          <p:nvPr/>
        </p:nvSpPr>
        <p:spPr>
          <a:xfrm>
            <a:off x="203710" y="2163301"/>
            <a:ext cx="4206240" cy="2848536"/>
          </a:xfrm>
          <a:custGeom>
            <a:avLst/>
            <a:gdLst>
              <a:gd name="csX0" fmla="*/ 0 w 4206240"/>
              <a:gd name="csY0" fmla="*/ 474765 h 2848536"/>
              <a:gd name="csX1" fmla="*/ 474765 w 4206240"/>
              <a:gd name="csY1" fmla="*/ 0 h 2848536"/>
              <a:gd name="csX2" fmla="*/ 3731475 w 4206240"/>
              <a:gd name="csY2" fmla="*/ 0 h 2848536"/>
              <a:gd name="csX3" fmla="*/ 4206240 w 4206240"/>
              <a:gd name="csY3" fmla="*/ 474765 h 2848536"/>
              <a:gd name="csX4" fmla="*/ 4206240 w 4206240"/>
              <a:gd name="csY4" fmla="*/ 2373771 h 2848536"/>
              <a:gd name="csX5" fmla="*/ 3731475 w 4206240"/>
              <a:gd name="csY5" fmla="*/ 2848536 h 2848536"/>
              <a:gd name="csX6" fmla="*/ 474765 w 4206240"/>
              <a:gd name="csY6" fmla="*/ 2848536 h 2848536"/>
              <a:gd name="csX7" fmla="*/ 0 w 4206240"/>
              <a:gd name="csY7" fmla="*/ 2373771 h 2848536"/>
              <a:gd name="csX8" fmla="*/ 0 w 420624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20624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703042" y="72427"/>
                  <a:pt x="2551383" y="61419"/>
                  <a:pt x="3731475" y="0"/>
                </a:cubicBezTo>
                <a:cubicBezTo>
                  <a:pt x="3988870" y="-33108"/>
                  <a:pt x="4184441" y="205966"/>
                  <a:pt x="4206240" y="474765"/>
                </a:cubicBezTo>
                <a:cubicBezTo>
                  <a:pt x="4307116" y="732013"/>
                  <a:pt x="4098927" y="1489527"/>
                  <a:pt x="4206240" y="2373771"/>
                </a:cubicBezTo>
                <a:cubicBezTo>
                  <a:pt x="4208826" y="2622851"/>
                  <a:pt x="3970559" y="2822616"/>
                  <a:pt x="3731475" y="2848536"/>
                </a:cubicBezTo>
                <a:cubicBezTo>
                  <a:pt x="3202359" y="2878363"/>
                  <a:pt x="1514158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20624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359656" y="123000"/>
                  <a:pt x="2662294" y="-96860"/>
                  <a:pt x="3731475" y="0"/>
                </a:cubicBezTo>
                <a:cubicBezTo>
                  <a:pt x="3970027" y="-18027"/>
                  <a:pt x="4207814" y="209386"/>
                  <a:pt x="4206240" y="474765"/>
                </a:cubicBezTo>
                <a:cubicBezTo>
                  <a:pt x="4209413" y="1288598"/>
                  <a:pt x="4300507" y="1714021"/>
                  <a:pt x="4206240" y="2373771"/>
                </a:cubicBezTo>
                <a:cubicBezTo>
                  <a:pt x="4174247" y="2647566"/>
                  <a:pt x="3949619" y="2841325"/>
                  <a:pt x="3731475" y="2848536"/>
                </a:cubicBezTo>
                <a:cubicBezTo>
                  <a:pt x="3334562" y="2687829"/>
                  <a:pt x="1828906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D6ABF8-6910-1ED2-7A11-918E1BFAB81A}"/>
              </a:ext>
            </a:extLst>
          </p:cNvPr>
          <p:cNvSpPr/>
          <p:nvPr/>
        </p:nvSpPr>
        <p:spPr>
          <a:xfrm>
            <a:off x="4592830" y="2165226"/>
            <a:ext cx="4185410" cy="2848536"/>
          </a:xfrm>
          <a:custGeom>
            <a:avLst/>
            <a:gdLst>
              <a:gd name="csX0" fmla="*/ 0 w 4185410"/>
              <a:gd name="csY0" fmla="*/ 474765 h 2848536"/>
              <a:gd name="csX1" fmla="*/ 474765 w 4185410"/>
              <a:gd name="csY1" fmla="*/ 0 h 2848536"/>
              <a:gd name="csX2" fmla="*/ 3710645 w 4185410"/>
              <a:gd name="csY2" fmla="*/ 0 h 2848536"/>
              <a:gd name="csX3" fmla="*/ 4185410 w 4185410"/>
              <a:gd name="csY3" fmla="*/ 474765 h 2848536"/>
              <a:gd name="csX4" fmla="*/ 4185410 w 4185410"/>
              <a:gd name="csY4" fmla="*/ 2373771 h 2848536"/>
              <a:gd name="csX5" fmla="*/ 3710645 w 4185410"/>
              <a:gd name="csY5" fmla="*/ 2848536 h 2848536"/>
              <a:gd name="csX6" fmla="*/ 474765 w 4185410"/>
              <a:gd name="csY6" fmla="*/ 2848536 h 2848536"/>
              <a:gd name="csX7" fmla="*/ 0 w 4185410"/>
              <a:gd name="csY7" fmla="*/ 2373771 h 2848536"/>
              <a:gd name="csX8" fmla="*/ 0 w 418541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18541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811821" y="72427"/>
                  <a:pt x="2276196" y="61419"/>
                  <a:pt x="3710645" y="0"/>
                </a:cubicBezTo>
                <a:cubicBezTo>
                  <a:pt x="3968040" y="-33108"/>
                  <a:pt x="4163611" y="205966"/>
                  <a:pt x="4185410" y="474765"/>
                </a:cubicBezTo>
                <a:cubicBezTo>
                  <a:pt x="4286286" y="732013"/>
                  <a:pt x="4078097" y="1489527"/>
                  <a:pt x="4185410" y="2373771"/>
                </a:cubicBezTo>
                <a:cubicBezTo>
                  <a:pt x="4187996" y="2622851"/>
                  <a:pt x="3949729" y="2822616"/>
                  <a:pt x="3710645" y="2848536"/>
                </a:cubicBezTo>
                <a:cubicBezTo>
                  <a:pt x="3063607" y="2878363"/>
                  <a:pt x="1315347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18541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582537" y="123000"/>
                  <a:pt x="2427726" y="-96860"/>
                  <a:pt x="3710645" y="0"/>
                </a:cubicBezTo>
                <a:cubicBezTo>
                  <a:pt x="3949197" y="-18027"/>
                  <a:pt x="4186984" y="209386"/>
                  <a:pt x="4185410" y="474765"/>
                </a:cubicBezTo>
                <a:cubicBezTo>
                  <a:pt x="4188583" y="1288598"/>
                  <a:pt x="4279677" y="1714021"/>
                  <a:pt x="4185410" y="2373771"/>
                </a:cubicBezTo>
                <a:cubicBezTo>
                  <a:pt x="4153417" y="2647566"/>
                  <a:pt x="3928789" y="2841325"/>
                  <a:pt x="3710645" y="2848536"/>
                </a:cubicBezTo>
                <a:cubicBezTo>
                  <a:pt x="3280635" y="2687829"/>
                  <a:pt x="1376895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Food Waste Management is Prevention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2000">
                <a:solidFill>
                  <a:srgbClr val="64B4DC"/>
                </a:solidFill>
              </a:defRPr>
            </a:pPr>
            <a:r>
              <a:rPr dirty="0"/>
              <a:t>Through effective planning, cost control, responsible production and sustainable practices, hotels can reduce operational losses while delivering exceptional guest experiences.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"The most sustainable meal is the one that never becomes waste."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747d8d9-9f27-4512-a869-6ec8c265bac2}" enabled="1" method="Standard" siteId="{2b916926-51b6-4a95-8003-bd3525f83077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140</TotalTime>
  <Words>543</Words>
  <Application>Microsoft Office PowerPoint</Application>
  <PresentationFormat>On-screen Show (4:3)</PresentationFormat>
  <Paragraphs>114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Aparna M S</cp:lastModifiedBy>
  <cp:revision>3</cp:revision>
  <dcterms:created xsi:type="dcterms:W3CDTF">2013-01-27T09:14:16Z</dcterms:created>
  <dcterms:modified xsi:type="dcterms:W3CDTF">2026-07-23T18:40:02Z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</vt:lpwstr>
  </property>
</Properties>
</file>